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3"/>
  </p:notesMasterIdLst>
  <p:sldIdLst>
    <p:sldId id="7704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ago Melo" initials="TM" lastIdx="1" clrIdx="0">
    <p:extLst>
      <p:ext uri="{19B8F6BF-5375-455C-9EA6-DF929625EA0E}">
        <p15:presenceInfo xmlns:p15="http://schemas.microsoft.com/office/powerpoint/2012/main" userId="2aa6bbff5e5fcc3a" providerId="Windows Live"/>
      </p:ext>
    </p:extLst>
  </p:cmAuthor>
  <p:cmAuthor id="2" name="Ramon Lima Dos Santos" initials="RLDS" lastIdx="1" clrIdx="1">
    <p:extLst>
      <p:ext uri="{19B8F6BF-5375-455C-9EA6-DF929625EA0E}">
        <p15:presenceInfo xmlns:p15="http://schemas.microsoft.com/office/powerpoint/2012/main" userId="S::Ramon.Santos@grupoboticario.com.br::30f7005a-7a0e-41f1-af3c-b43f93fba9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5A5"/>
    <a:srgbClr val="4472C4"/>
    <a:srgbClr val="5B9BD5"/>
    <a:srgbClr val="1F497D"/>
    <a:srgbClr val="93A9CF"/>
    <a:srgbClr val="333F50"/>
    <a:srgbClr val="17375E"/>
    <a:srgbClr val="BEBEBE"/>
    <a:srgbClr val="627998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5" autoAdjust="0"/>
    <p:restoredTop sz="93078" autoAdjust="0"/>
  </p:normalViewPr>
  <p:slideViewPr>
    <p:cSldViewPr snapToGrid="0">
      <p:cViewPr varScale="1">
        <p:scale>
          <a:sx n="150" d="100"/>
          <a:sy n="150" d="100"/>
        </p:scale>
        <p:origin x="348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PM ou PA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Planilha1!$A$3:$A$4</c:f>
              <c:strCache>
                <c:ptCount val="2"/>
                <c:pt idx="0">
                  <c:v>&lt;= SLA</c:v>
                </c:pt>
                <c:pt idx="1">
                  <c:v>&gt; SLA</c:v>
                </c:pt>
              </c:strCache>
            </c:strRef>
          </c:cat>
          <c:val>
            <c:numRef>
              <c:f>Planilha1!$B$2:$B$4</c:f>
              <c:numCache>
                <c:formatCode>0.00</c:formatCode>
                <c:ptCount val="3"/>
                <c:pt idx="0">
                  <c:v>0.01</c:v>
                </c:pt>
                <c:pt idx="1">
                  <c:v>0.7</c:v>
                </c:pt>
                <c:pt idx="2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86-46BD-88B3-988D3B260A7B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Faz Bonito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Planilha1!$A$3:$A$4</c:f>
              <c:strCache>
                <c:ptCount val="2"/>
                <c:pt idx="0">
                  <c:v>&lt;= SLA</c:v>
                </c:pt>
                <c:pt idx="1">
                  <c:v>&gt; SLA</c:v>
                </c:pt>
              </c:strCache>
            </c:strRef>
          </c:cat>
          <c:val>
            <c:numRef>
              <c:f>Planilha1!$C$2:$C$4</c:f>
              <c:numCache>
                <c:formatCode>0.00</c:formatCode>
                <c:ptCount val="3"/>
                <c:pt idx="0">
                  <c:v>1.1499999999999999</c:v>
                </c:pt>
                <c:pt idx="1">
                  <c:v>-0.13</c:v>
                </c:pt>
                <c:pt idx="2">
                  <c:v>-0.87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86-46BD-88B3-988D3B260A7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Muda o Jogo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Planilha1!$A$3:$A$4</c:f>
              <c:strCache>
                <c:ptCount val="2"/>
                <c:pt idx="0">
                  <c:v>&lt;= SLA</c:v>
                </c:pt>
                <c:pt idx="1">
                  <c:v>&gt; SLA</c:v>
                </c:pt>
              </c:strCache>
            </c:strRef>
          </c:cat>
          <c:val>
            <c:numRef>
              <c:f>Planilha1!$D$2:$D$4</c:f>
              <c:numCache>
                <c:formatCode>0.00</c:formatCode>
                <c:ptCount val="3"/>
                <c:pt idx="0">
                  <c:v>-1.49</c:v>
                </c:pt>
                <c:pt idx="1">
                  <c:v>1.01</c:v>
                </c:pt>
                <c:pt idx="2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F86-46BD-88B3-988D3B260A7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4420415"/>
        <c:axId val="1145776815"/>
      </c:barChart>
      <c:catAx>
        <c:axId val="11644204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45776815"/>
        <c:crosses val="autoZero"/>
        <c:auto val="1"/>
        <c:lblAlgn val="ctr"/>
        <c:lblOffset val="100"/>
        <c:noMultiLvlLbl val="0"/>
      </c:catAx>
      <c:valAx>
        <c:axId val="1145776815"/>
        <c:scaling>
          <c:orientation val="minMax"/>
          <c:max val="5"/>
          <c:min val="-5"/>
        </c:scaling>
        <c:delete val="1"/>
        <c:axPos val="l"/>
        <c:numFmt formatCode="0.00" sourceLinked="1"/>
        <c:majorTickMark val="out"/>
        <c:minorTickMark val="none"/>
        <c:tickLblPos val="nextTo"/>
        <c:crossAx val="1164420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7A9B5-E70F-4301-85CC-6C8834E70B56}" type="datetimeFigureOut">
              <a:rPr lang="pt-BR" smtClean="0"/>
              <a:t>28/02/2023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FE618-D1C1-4197-991D-FE8A42E6C23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560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60CAD-4DE0-427A-A6D9-0A2B8BFB6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DCE412-C24C-4C05-B287-91FC0D1B5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CEB83C-3146-4867-BBFB-CE80346A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075087-96B4-4A1E-A453-7AA4F480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DA9B39-3272-44AA-A779-C5BAC052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221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B0D0BD-66DD-44E8-A1A0-F96B8B15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BE435-6CA4-4215-8453-E456AA9F2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B82EC6-74B5-468D-B2AA-25748B7C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1EFF2F-65A3-4452-9298-50102042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6BF89D-F8EA-44E0-ABF5-95CC66E7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20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4408B-B907-4CE5-9E3E-24F433ABC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32A651-4025-45CE-9C80-4A574F4C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CA763D-9E87-4F18-B38F-06BBA54F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2AD585-ACEC-417C-B9F4-3ACC8258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0BF9F0-F6F9-4261-BA34-E8F33FBD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06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E68FB-7070-453C-8CF3-0B489543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69D65-511A-4BD7-9649-97AD2AAA0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AC6679-CA88-4346-80B7-BA831BED3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7B37E9-1FDB-4BD4-99BC-A3FE3EE4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1C4526-90CB-4E79-8E53-713E72C0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DB4D2C-797C-4E6F-A6AC-D629546B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73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D13FE-1E05-48A4-BBFE-E713C70B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42E768-36B1-496B-AA32-58DB1476F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D36B3D-5B69-4682-9377-6F1DC6CA3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E38F6E-E8A7-41EA-884A-1A304ABD5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6DD3F1-8FCF-4DBE-87FB-FBCAD052E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CA1157F-F7BE-422F-BDDB-3C87F3FF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5380B74-1A8E-4F27-B3FF-3B70F7D6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D14391-84D0-4C75-B0B1-1DD22835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68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829CC-11B2-4D6A-84B2-67D10DAA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E8ECAE-33C5-49CB-97CF-3ED43791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AE68D6-13A0-4DED-9D9A-37F8D967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16C0716-AF05-4FE0-82E4-F7F83886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20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54BDAE-3D7D-44C5-9181-DCB06F00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F5123D-078D-4EE5-A50F-8B7A26E5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5B27A3-4513-4441-91D1-13928FCD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15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0BCC1-F44F-4588-AF86-59F7CC28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AC1E0-309C-400C-9755-6EA5296E4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0E26F2-1E21-465A-B800-C6FBA3257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31C606-A466-43FF-B5A2-A9F06D0B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9C2C3D-EDA8-4206-B7F8-9AA62D9F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22F376-8D61-4524-9200-EB68818BF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66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790C-A697-4487-BD82-543BCC7F1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1247097-91D2-4610-9435-5B062D680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6C5897-81B3-41BB-B80C-BCD7D56DE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352AC-4635-4120-A448-9DF92E3F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FE4300-FE5F-4DCA-B07A-9ACFDF18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BA9CDA-D5EC-49A2-BC46-CB1E66D2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1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84D23-78CC-494A-B954-B154A89A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7EE351-9D29-4CDB-B3EF-2FF8E52A3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70BF92-5D8C-4205-9511-FDDC1398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73CD7D-697C-46EE-9AE3-8256344A2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0F1BC0-8D9E-4C88-AA70-011A1B4C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53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F88247-E648-4B6A-A409-6001302234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49CC56-66BA-4C89-959D-93EF7D0E9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20527B-1E53-447D-A449-FDF29FFF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8283DE-0816-4AD4-85E3-B90BDEB8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211C6-44C1-4C16-90B4-D2A16D1F6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24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C29F46-8CE7-4732-8281-40EBF0DA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97819E-F04B-456D-B753-369BEB185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27D4E5-335E-4244-A3C0-0020867B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0BE0-C361-404F-9702-C9C331EECC9B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F8962D-07B7-4B37-94BE-E75127CF5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019166-7125-404C-8462-C90AFAA45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173-E8AB-4F5E-9A43-F90A93B422EE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MSIPCMContentMarking" descr="{&quot;HashCode&quot;:-1852091747,&quot;Placement&quot;:&quot;Footer&quot;,&quot;Top&quot;:522.0343,&quot;Left&quot;:0.0,&quot;SlideWidth&quot;:960,&quot;SlideHeight&quot;:540}">
            <a:extLst>
              <a:ext uri="{FF2B5EF4-FFF2-40B4-BE49-F238E27FC236}">
                <a16:creationId xmlns:a16="http://schemas.microsoft.com/office/drawing/2014/main" id="{8A36260F-8021-8F74-691F-7CB94E6D4BD8}"/>
              </a:ext>
            </a:extLst>
          </p:cNvPr>
          <p:cNvSpPr txBox="1"/>
          <p:nvPr userDrawn="1"/>
        </p:nvSpPr>
        <p:spPr>
          <a:xfrm>
            <a:off x="0" y="6629836"/>
            <a:ext cx="2096337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</a:rPr>
              <a:t>Classificação da informação: Neon@Sigiloso</a:t>
            </a:r>
          </a:p>
        </p:txBody>
      </p:sp>
    </p:spTree>
    <p:extLst>
      <p:ext uri="{BB962C8B-B14F-4D97-AF65-F5344CB8AC3E}">
        <p14:creationId xmlns:p14="http://schemas.microsoft.com/office/powerpoint/2010/main" val="102973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20CE2123-6DF2-45A5-A0C2-FCEA7D3AFD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143220"/>
              </p:ext>
            </p:extLst>
          </p:nvPr>
        </p:nvGraphicFramePr>
        <p:xfrm>
          <a:off x="2032000" y="1774142"/>
          <a:ext cx="6082177" cy="4695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hlinkClick r:id="" action="ppaction://noaction"/>
            <a:extLst>
              <a:ext uri="{FF2B5EF4-FFF2-40B4-BE49-F238E27FC236}">
                <a16:creationId xmlns:a16="http://schemas.microsoft.com/office/drawing/2014/main" id="{77E4B174-4125-438A-8C20-2D14FC91C7A0}"/>
              </a:ext>
            </a:extLst>
          </p:cNvPr>
          <p:cNvSpPr txBox="1">
            <a:spLocks/>
          </p:cNvSpPr>
          <p:nvPr/>
        </p:nvSpPr>
        <p:spPr>
          <a:xfrm>
            <a:off x="0" y="23563"/>
            <a:ext cx="12192000" cy="925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3FF1246-FCA5-4EDF-B1AC-9A9DB01437C9}"/>
              </a:ext>
            </a:extLst>
          </p:cNvPr>
          <p:cNvSpPr/>
          <p:nvPr/>
        </p:nvSpPr>
        <p:spPr>
          <a:xfrm>
            <a:off x="163344" y="102091"/>
            <a:ext cx="2298700" cy="36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6DE20A5-1114-407E-B5CB-5797354BF8F7}"/>
              </a:ext>
            </a:extLst>
          </p:cNvPr>
          <p:cNvSpPr/>
          <p:nvPr/>
        </p:nvSpPr>
        <p:spPr>
          <a:xfrm>
            <a:off x="163344" y="214117"/>
            <a:ext cx="2298700" cy="252000"/>
          </a:xfrm>
          <a:prstGeom prst="round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Segoe UI Light" panose="020B0502040204020203" pitchFamily="34" charset="0"/>
              </a:rPr>
              <a:t>people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Segoe UI Light" panose="020B0502040204020203" pitchFamily="34" charset="0"/>
              </a:rPr>
              <a:t> </a:t>
            </a:r>
            <a:r>
              <a:rPr kumimoji="0" lang="pt-B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Segoe UI Light" panose="020B0502040204020203" pitchFamily="34" charset="0"/>
              </a:rPr>
              <a:t>analytics</a:t>
            </a:r>
            <a:endParaRPr kumimoji="0" lang="pt-B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6681AC6-006E-45FC-B228-01D853B2FA96}"/>
              </a:ext>
            </a:extLst>
          </p:cNvPr>
          <p:cNvSpPr/>
          <p:nvPr/>
        </p:nvSpPr>
        <p:spPr>
          <a:xfrm>
            <a:off x="163344" y="449242"/>
            <a:ext cx="7184907" cy="403414"/>
          </a:xfrm>
          <a:prstGeom prst="round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kern="0" dirty="0">
                <a:solidFill>
                  <a:prstClr val="white"/>
                </a:solidFill>
                <a:latin typeface="Segoe UI Light"/>
                <a:cs typeface="Segoe UI Light" panose="020B0502040204020203" pitchFamily="34" charset="0"/>
              </a:rPr>
              <a:t>cumprimento do SLA </a:t>
            </a:r>
            <a:r>
              <a:rPr lang="pt-BR" sz="2000" b="1" i="1" kern="0" dirty="0" err="1">
                <a:solidFill>
                  <a:prstClr val="white"/>
                </a:solidFill>
                <a:latin typeface="Segoe UI Light"/>
                <a:cs typeface="Segoe UI Light" panose="020B0502040204020203" pitchFamily="34" charset="0"/>
              </a:rPr>
              <a:t>vs</a:t>
            </a:r>
            <a:r>
              <a:rPr lang="pt-BR" sz="2000" b="1" kern="0" dirty="0">
                <a:solidFill>
                  <a:prstClr val="white"/>
                </a:solidFill>
                <a:latin typeface="Segoe UI Light"/>
                <a:cs typeface="Segoe UI Light" panose="020B0502040204020203" pitchFamily="34" charset="0"/>
              </a:rPr>
              <a:t> performance</a:t>
            </a: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Segoe UI Light" panose="020B0502040204020203" pitchFamily="34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BAD7552-4AE9-4B37-95A0-A6CCD302EF0A}"/>
              </a:ext>
            </a:extLst>
          </p:cNvPr>
          <p:cNvCxnSpPr>
            <a:cxnSpLocks/>
          </p:cNvCxnSpPr>
          <p:nvPr/>
        </p:nvCxnSpPr>
        <p:spPr>
          <a:xfrm>
            <a:off x="329676" y="1256554"/>
            <a:ext cx="1110984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93D2E77-D147-4C7D-B909-5B0B52973709}"/>
              </a:ext>
            </a:extLst>
          </p:cNvPr>
          <p:cNvSpPr txBox="1"/>
          <p:nvPr/>
        </p:nvSpPr>
        <p:spPr>
          <a:xfrm>
            <a:off x="250164" y="974784"/>
            <a:ext cx="2343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ea typeface="+mn-ea"/>
                <a:cs typeface="Aharoni" panose="02010803020104030203" pitchFamily="2" charset="-79"/>
              </a:rPr>
              <a:t>avaliação de poder do efeito</a:t>
            </a:r>
          </a:p>
        </p:txBody>
      </p:sp>
      <p:sp>
        <p:nvSpPr>
          <p:cNvPr id="15" name="Seta: Pentágono 14">
            <a:extLst>
              <a:ext uri="{FF2B5EF4-FFF2-40B4-BE49-F238E27FC236}">
                <a16:creationId xmlns:a16="http://schemas.microsoft.com/office/drawing/2014/main" id="{C73A4E28-96B1-4358-83AE-679589E123D7}"/>
              </a:ext>
            </a:extLst>
          </p:cNvPr>
          <p:cNvSpPr/>
          <p:nvPr/>
        </p:nvSpPr>
        <p:spPr>
          <a:xfrm>
            <a:off x="437930" y="3136334"/>
            <a:ext cx="1574580" cy="1696185"/>
          </a:xfrm>
          <a:prstGeom prst="homePlate">
            <a:avLst>
              <a:gd name="adj" fmla="val 13052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rgbClr val="8A8A8A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prstClr val="white"/>
                </a:solidFill>
                <a:latin typeface="Segoe UI Light"/>
              </a:rPr>
              <a:t>Região de variáveis sem impacto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59" name="Seta: Pentágono 158">
            <a:extLst>
              <a:ext uri="{FF2B5EF4-FFF2-40B4-BE49-F238E27FC236}">
                <a16:creationId xmlns:a16="http://schemas.microsoft.com/office/drawing/2014/main" id="{3F276A99-A75F-4CBD-B7B1-CBDB1FB16F03}"/>
              </a:ext>
            </a:extLst>
          </p:cNvPr>
          <p:cNvSpPr/>
          <p:nvPr/>
        </p:nvSpPr>
        <p:spPr>
          <a:xfrm>
            <a:off x="437930" y="5047304"/>
            <a:ext cx="1280154" cy="828000"/>
          </a:xfrm>
          <a:prstGeom prst="homePlate">
            <a:avLst>
              <a:gd name="adj" fmla="val 13052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rgbClr val="8A8A8A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prstClr val="white"/>
                </a:solidFill>
                <a:latin typeface="Segoe UI Light"/>
              </a:rPr>
              <a:t>zona de impacto (-)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99DBC573-A765-4CA8-86A6-2411281E1D07}"/>
              </a:ext>
            </a:extLst>
          </p:cNvPr>
          <p:cNvSpPr txBox="1">
            <a:spLocks/>
          </p:cNvSpPr>
          <p:nvPr/>
        </p:nvSpPr>
        <p:spPr>
          <a:xfrm>
            <a:off x="8963003" y="2633980"/>
            <a:ext cx="3089571" cy="30479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792C315F-2CFB-4FFA-93D5-9C913F25D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76733" y="2451100"/>
            <a:ext cx="3340100" cy="3047989"/>
          </a:xfrm>
          <a:solidFill>
            <a:schemeClr val="tx2"/>
          </a:solidFill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16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fechar a vaga rapidamente, cumprir o SLA ou estourar o </a:t>
            </a:r>
            <a:r>
              <a:rPr lang="pt-BR" sz="1600" b="1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prazo não afeta significativamente a performance</a:t>
            </a:r>
            <a:r>
              <a:rPr lang="pt-BR" sz="16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 dos recrutados (nem para melhor nem para pior), com 95% de confiança.</a:t>
            </a:r>
          </a:p>
          <a:p>
            <a:pPr>
              <a:spcBef>
                <a:spcPts val="600"/>
              </a:spcBef>
            </a:pPr>
            <a:endParaRPr lang="pt-BR" sz="1600" dirty="0">
              <a:solidFill>
                <a:schemeClr val="bg1"/>
              </a:solidFill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pt-BR" sz="1600" b="1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efeito muito fraco</a:t>
            </a:r>
            <a:r>
              <a:rPr lang="pt-BR" sz="16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, com um V de </a:t>
            </a:r>
            <a:r>
              <a:rPr lang="pt-BR" sz="1600" dirty="0" err="1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Cramer</a:t>
            </a:r>
            <a:r>
              <a:rPr lang="pt-BR" sz="16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 = 0,03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sz="1200" dirty="0">
                <a:solidFill>
                  <a:schemeClr val="bg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rPr>
              <a:t>*tiramos da referência que variáveis começam a ter um impacto mínimo por volta de  V= 0,20.</a:t>
            </a:r>
            <a:endParaRPr lang="pt-BR" sz="1600" dirty="0">
              <a:solidFill>
                <a:schemeClr val="bg1"/>
              </a:solidFill>
              <a:latin typeface="Segoe UI Light" panose="020B0502040204020203" pitchFamily="34" charset="0"/>
              <a:ea typeface="+mj-ea"/>
              <a:cs typeface="Segoe UI Light" panose="020B0502040204020203" pitchFamily="34" charset="0"/>
            </a:endParaRPr>
          </a:p>
        </p:txBody>
      </p:sp>
      <p:sp>
        <p:nvSpPr>
          <p:cNvPr id="14" name="Seta: Pentágono 13">
            <a:extLst>
              <a:ext uri="{FF2B5EF4-FFF2-40B4-BE49-F238E27FC236}">
                <a16:creationId xmlns:a16="http://schemas.microsoft.com/office/drawing/2014/main" id="{70BF48D4-8CF5-495E-B42E-C487FB730ECB}"/>
              </a:ext>
            </a:extLst>
          </p:cNvPr>
          <p:cNvSpPr/>
          <p:nvPr/>
        </p:nvSpPr>
        <p:spPr>
          <a:xfrm>
            <a:off x="437930" y="2063463"/>
            <a:ext cx="1280154" cy="828000"/>
          </a:xfrm>
          <a:prstGeom prst="homePlate">
            <a:avLst>
              <a:gd name="adj" fmla="val 13052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rgbClr val="8A8A8A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kern="0" dirty="0">
                <a:solidFill>
                  <a:prstClr val="white"/>
                </a:solidFill>
                <a:latin typeface="Segoe UI Light"/>
              </a:rPr>
              <a:t>zona de impacto (+)</a:t>
            </a:r>
            <a:endParaRPr kumimoji="0" lang="pt-BR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56CEA3F-D30A-4364-BED5-FC399D785F85}"/>
              </a:ext>
            </a:extLst>
          </p:cNvPr>
          <p:cNvCxnSpPr/>
          <p:nvPr/>
        </p:nvCxnSpPr>
        <p:spPr>
          <a:xfrm>
            <a:off x="2338125" y="2891463"/>
            <a:ext cx="562258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852C0AE5-D82B-4DDC-A3D1-9632C13624FD}"/>
              </a:ext>
            </a:extLst>
          </p:cNvPr>
          <p:cNvCxnSpPr/>
          <p:nvPr/>
        </p:nvCxnSpPr>
        <p:spPr>
          <a:xfrm>
            <a:off x="2338125" y="5006747"/>
            <a:ext cx="562258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62DC2D7-62DC-4633-AE69-4488391C6064}"/>
              </a:ext>
            </a:extLst>
          </p:cNvPr>
          <p:cNvSpPr txBox="1"/>
          <p:nvPr/>
        </p:nvSpPr>
        <p:spPr>
          <a:xfrm>
            <a:off x="7851727" y="2764505"/>
            <a:ext cx="6096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schemeClr val="accent1"/>
                </a:solidFill>
                <a:latin typeface="Segoe UI Light"/>
              </a:rPr>
              <a:t>+2,77</a:t>
            </a:r>
            <a:endParaRPr kumimoji="0" lang="pt-BR" sz="16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4FB6E2E-23E4-4565-A060-00CC2DBE686E}"/>
              </a:ext>
            </a:extLst>
          </p:cNvPr>
          <p:cNvSpPr txBox="1"/>
          <p:nvPr/>
        </p:nvSpPr>
        <p:spPr>
          <a:xfrm>
            <a:off x="7810702" y="4863850"/>
            <a:ext cx="6096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schemeClr val="accent1"/>
                </a:solidFill>
                <a:latin typeface="Segoe UI Light"/>
              </a:rPr>
              <a:t>-2,77</a:t>
            </a:r>
            <a:endParaRPr kumimoji="0" lang="pt-BR" sz="160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E985CB5-D7D9-45FF-9805-F9AFC1E75225}"/>
              </a:ext>
            </a:extLst>
          </p:cNvPr>
          <p:cNvSpPr txBox="1"/>
          <p:nvPr/>
        </p:nvSpPr>
        <p:spPr>
          <a:xfrm>
            <a:off x="6302030" y="1332635"/>
            <a:ext cx="13387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Seleções que ultrapassaram o SLA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543BA8E-3834-406B-99FD-A098C1D8AC53}"/>
              </a:ext>
            </a:extLst>
          </p:cNvPr>
          <p:cNvSpPr txBox="1"/>
          <p:nvPr/>
        </p:nvSpPr>
        <p:spPr>
          <a:xfrm>
            <a:off x="4339089" y="1338189"/>
            <a:ext cx="12516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dirty="0">
                <a:solidFill>
                  <a:prstClr val="black"/>
                </a:solidFill>
                <a:latin typeface="Segoe UI Light"/>
              </a:rPr>
              <a:t>Seleções respeitando o SLA</a:t>
            </a:r>
            <a:endParaRPr kumimoji="0" lang="pt-BR" sz="16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AB39326-48A1-4A2F-A305-1C394342E1E7}"/>
              </a:ext>
            </a:extLst>
          </p:cNvPr>
          <p:cNvCxnSpPr>
            <a:cxnSpLocks/>
          </p:cNvCxnSpPr>
          <p:nvPr/>
        </p:nvCxnSpPr>
        <p:spPr>
          <a:xfrm flipV="1">
            <a:off x="2267192" y="1759185"/>
            <a:ext cx="1582722" cy="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2FAADD8-DBC7-4178-9229-B200D7D33CC5}"/>
              </a:ext>
            </a:extLst>
          </p:cNvPr>
          <p:cNvSpPr txBox="1"/>
          <p:nvPr/>
        </p:nvSpPr>
        <p:spPr>
          <a:xfrm>
            <a:off x="2389190" y="1338189"/>
            <a:ext cx="13387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Seleções em menos da metade do SLA</a:t>
            </a: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5A148E00-0F54-459C-81DA-BF92712569F4}"/>
              </a:ext>
            </a:extLst>
          </p:cNvPr>
          <p:cNvCxnSpPr>
            <a:cxnSpLocks/>
          </p:cNvCxnSpPr>
          <p:nvPr/>
        </p:nvCxnSpPr>
        <p:spPr>
          <a:xfrm flipV="1">
            <a:off x="4173540" y="1753684"/>
            <a:ext cx="1582722" cy="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F5ADC82-6DB2-474D-898B-F3EE66664BE7}"/>
              </a:ext>
            </a:extLst>
          </p:cNvPr>
          <p:cNvCxnSpPr>
            <a:cxnSpLocks/>
          </p:cNvCxnSpPr>
          <p:nvPr/>
        </p:nvCxnSpPr>
        <p:spPr>
          <a:xfrm flipV="1">
            <a:off x="6136481" y="1748133"/>
            <a:ext cx="1582722" cy="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97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3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30183</TotalTime>
  <Words>108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Wingdings</vt:lpstr>
      <vt:lpstr>3_Tema do Office</vt:lpstr>
      <vt:lpstr>Apresentação do PowerPoint</vt:lpstr>
    </vt:vector>
  </TitlesOfParts>
  <Company>O Boticario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Melo Santos</dc:creator>
  <cp:lastModifiedBy>Diego Maciel Geronimo</cp:lastModifiedBy>
  <cp:revision>1941</cp:revision>
  <dcterms:created xsi:type="dcterms:W3CDTF">2016-05-12T18:07:25Z</dcterms:created>
  <dcterms:modified xsi:type="dcterms:W3CDTF">2023-02-28T17:02:21Z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97d27d-0be8-4683-8813-75ba21d44554_Enabled">
    <vt:lpwstr>true</vt:lpwstr>
  </property>
  <property fmtid="{D5CDD505-2E9C-101B-9397-08002B2CF9AE}" pid="3" name="MSIP_Label_0b97d27d-0be8-4683-8813-75ba21d44554_SetDate">
    <vt:lpwstr>2023-02-28T17:02:21Z</vt:lpwstr>
  </property>
  <property fmtid="{D5CDD505-2E9C-101B-9397-08002B2CF9AE}" pid="4" name="MSIP_Label_0b97d27d-0be8-4683-8813-75ba21d44554_Method">
    <vt:lpwstr>Standard</vt:lpwstr>
  </property>
  <property fmtid="{D5CDD505-2E9C-101B-9397-08002B2CF9AE}" pid="5" name="MSIP_Label_0b97d27d-0be8-4683-8813-75ba21d44554_Name">
    <vt:lpwstr>Teste_Sigiloso</vt:lpwstr>
  </property>
  <property fmtid="{D5CDD505-2E9C-101B-9397-08002B2CF9AE}" pid="6" name="MSIP_Label_0b97d27d-0be8-4683-8813-75ba21d44554_SiteId">
    <vt:lpwstr>3f54b4f9-5f65-4ed2-905f-fb14a26799c6</vt:lpwstr>
  </property>
  <property fmtid="{D5CDD505-2E9C-101B-9397-08002B2CF9AE}" pid="7" name="MSIP_Label_0b97d27d-0be8-4683-8813-75ba21d44554_ActionId">
    <vt:lpwstr>8c3886d7-bf93-40a1-9d0e-d3c7b0a05c16</vt:lpwstr>
  </property>
  <property fmtid="{D5CDD505-2E9C-101B-9397-08002B2CF9AE}" pid="8" name="MSIP_Label_0b97d27d-0be8-4683-8813-75ba21d44554_ContentBits">
    <vt:lpwstr>2</vt:lpwstr>
  </property>
</Properties>
</file>